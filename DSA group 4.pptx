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6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73374-EBDA-D748-B61E-6B0F68905FF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D263F-C140-DE46-90F9-31F5FA60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7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5A623"/>
                </a:solidFill>
              </a:rPr>
              <a:t>HARAMAYA UNIVERSITY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69164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 Management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B4C8"/>
                </a:solidFill>
              </a:rPr>
              <a:t>Data Structures &amp; Algorithms in C++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2980" y="35661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Linked List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57500" y="35661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750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32020" y="35661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202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06540" y="356616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6540" y="3566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Hash 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</a:rPr>
              <a:t>Group 4  ·  Department of Computer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1EDE5D-7191-5B90-9D1B-49358D161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1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95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188720"/>
          </a:xfrm>
          <a:prstGeom prst="rect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99"/>
                </a:solidFill>
              </a:rPr>
              <a:t>3 Libraries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Gebisa &amp; Ejeta · Law Library · Female Library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64008" cy="1188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754"/>
                </a:solidFill>
              </a:rPr>
              <a:t>Role-Based Login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Admin, Librarian &amp; Student access levels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64008" cy="1188720"/>
          </a:xfrm>
          <a:prstGeom prst="rect">
            <a:avLst/>
          </a:prstGeom>
          <a:solidFill>
            <a:srgbClr val="6D2E9E"/>
          </a:solidFill>
          <a:ln w="12700">
            <a:solidFill>
              <a:srgbClr val="6D2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9E"/>
                </a:solidFill>
              </a:rPr>
              <a:t>Book 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Add, search, display, borrow &amp; return books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6400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Waiting Queue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Fair FIFO queue for unavailable books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7889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78892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Return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291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LIFO stack tracks last-returned for quick shelving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278892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78892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Linked List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291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All books stored as dynamic linked nodes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B0CC"/>
                </a:solidFill>
              </a:rPr>
              <a:t>Four carefully chosen structures power every library operation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109728" cy="74980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72184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399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754"/>
                </a:solidFill>
              </a:rPr>
              <a:t>Linked 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1755648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Insert O(n) · Search O(n)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4356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Stores all books in each library as dynamically linked nodes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1371600"/>
            <a:ext cx="9144" cy="0"/>
          </a:xfrm>
          <a:prstGeom prst="line">
            <a:avLst/>
          </a:prstGeom>
          <a:noFill/>
          <a:ln w="19050">
            <a:solidFill>
              <a:srgbClr val="1A8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380744"/>
            <a:ext cx="0" cy="640080"/>
          </a:xfrm>
          <a:prstGeom prst="line">
            <a:avLst/>
          </a:prstGeom>
          <a:noFill/>
          <a:ln w="19050">
            <a:solidFill>
              <a:srgbClr val="1A87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21992"/>
            <a:ext cx="841248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21992"/>
            <a:ext cx="10972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368296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295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Queue (FIFO)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2651760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Enqueue O(1) · Dequeue O(1)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3317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Manages the waiting list of students for unavailable books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2267712"/>
            <a:ext cx="9144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2276856"/>
            <a:ext cx="0" cy="64008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18104"/>
            <a:ext cx="841248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118104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2644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191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Stack (LIFO)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88720" y="3547872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Push O(1) · Pop O(1)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22783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Tracks returned books so the most recent is shelved first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566160" y="3163824"/>
            <a:ext cx="914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3172968"/>
            <a:ext cx="0" cy="6400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014216"/>
            <a:ext cx="8412480" cy="749808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014216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087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Hash Map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88720" y="4443984"/>
            <a:ext cx="228600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88720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Lookup O(1) average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0" y="412394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unordered_map stores credentials for O(1) login authentication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566160" y="4059936"/>
            <a:ext cx="9144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4069080"/>
            <a:ext cx="0" cy="6400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Linked List — Book Storage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1A87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3317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Book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 title;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 category;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totalCopies;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availableCopies;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Book*   next;   // → next 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886968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886968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88696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53328" y="88696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Unique number to identify each book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43584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43584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24358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53328" y="12435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Book name used in 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00200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002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1600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Genre / subject (e.g. Science, Law)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56816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56816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95681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totalCopies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53328" y="1956816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How many copies the library owns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313432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313432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31343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availableCopies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53328" y="231343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Copies currently on the shelf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670048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670048"/>
            <a:ext cx="54864" cy="30175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670048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53328" y="267004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Pointer linking to the next Book node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How Books Form a Chain: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1737360" cy="6858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 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03120" y="400050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3657600"/>
            <a:ext cx="1737360" cy="6858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 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06240" y="400050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657600"/>
            <a:ext cx="1737360" cy="685800"/>
          </a:xfrm>
          <a:prstGeom prst="rect">
            <a:avLst/>
          </a:prstGeom>
          <a:solidFill>
            <a:srgbClr val="0D6B40"/>
          </a:solidFill>
          <a:ln w="12700">
            <a:solidFill>
              <a:srgbClr val="0D6B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 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400050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657600"/>
            <a:ext cx="1188720" cy="685800"/>
          </a:xfrm>
          <a:prstGeom prst="rect">
            <a:avLst/>
          </a:prstGeom>
          <a:solidFill>
            <a:srgbClr val="D0D8E0"/>
          </a:solidFill>
          <a:ln w="12700">
            <a:solidFill>
              <a:srgbClr val="A0B0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6576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9BAB"/>
                </a:solidFill>
              </a:rPr>
              <a:t>NULL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</a:rPr>
              <a:t>addBook() appends at tail  ·  searchBook() uses linear search O(n)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Queue (FIFO) — Waiting Students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QueueNode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   studentId;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   bookId;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QueueNode* next;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enqueue(int sid, int bid); // O(1)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dequeue();                 // O(1)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86968"/>
            <a:ext cx="4114800" cy="530352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886968"/>
            <a:ext cx="54864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9235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Purpose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73168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</a:rPr>
              <a:t>When a book is unavailable, the student is placed at the back of the queue automatically.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99616"/>
            <a:ext cx="4114800" cy="530352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99616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36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</a:rPr>
              <a:t>FIFO Guarantee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</a:rPr>
              <a:t>First student to join is first to receive the book when it becomes available.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112264"/>
            <a:ext cx="4114800" cy="530352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12264"/>
            <a:ext cx="54864" cy="5303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Enqueue O(1)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368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</a:rPr>
              <a:t>Creates a QueueNode and appends it to the rear pointer — constant 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724912"/>
            <a:ext cx="4114800" cy="530352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24912"/>
            <a:ext cx="54864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761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</a:rPr>
              <a:t>Dequeue O(1)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</a:rPr>
              <a:t>Removes front node when book is returned and frees memory — constant time.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0CC"/>
                </a:solidFill>
              </a:rPr>
              <a:t>Queue Visualization (FIFO — First In, First Out):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192024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Student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(front)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22910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3840480"/>
            <a:ext cx="1920240" cy="77724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9748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Student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4229100"/>
            <a:ext cx="320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840480"/>
            <a:ext cx="1920240" cy="77724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Student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(rear)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681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</a:rPr>
              <a:t>← dequeue (book becomes available)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EB0CC"/>
                </a:solidFill>
              </a:rPr>
              <a:t>enqueue (new student waits) →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Stack (LIFO) — Returned Books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25603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StackNode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   bookId;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    title;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StackNode* next;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push(int bid, string t); // O(1)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pop();                   // O(1)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88696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886968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9235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Purpose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73168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Every returned book is pushed onto the stack so librarians can shelve 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9961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99616"/>
            <a:ext cx="54864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361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A70"/>
                </a:solidFill>
              </a:rPr>
              <a:t>LIFO Behavior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755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Most recently returned book is always processed first (top of stack).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11226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12264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148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Push O(1)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73168" y="2368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Creates a StackNode prepended to returnStack — constant time insert.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72491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724912"/>
            <a:ext cx="54864" cy="530352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761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A70"/>
                </a:solidFill>
              </a:rPr>
              <a:t>Pop O(1)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52F"/>
                </a:solidFill>
              </a:rPr>
              <a:t>Removes the top node (shelfReturnedBook()) and frees memory.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Stack Visualization (LIFO — Last In, First Out):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3794760"/>
            <a:ext cx="6400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7947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Book C  ← TOP (returned last, shelved FIRST)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371600" y="4178808"/>
            <a:ext cx="6400800" cy="347472"/>
          </a:xfrm>
          <a:prstGeom prst="rect">
            <a:avLst/>
          </a:prstGeom>
          <a:solidFill>
            <a:srgbClr val="D0E8E5"/>
          </a:solidFill>
          <a:ln w="12700">
            <a:solidFill>
              <a:srgbClr val="D0E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417880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Book 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71600" y="4562856"/>
            <a:ext cx="6400800" cy="347472"/>
          </a:xfrm>
          <a:prstGeom prst="rect">
            <a:avLst/>
          </a:prstGeom>
          <a:solidFill>
            <a:srgbClr val="D0E8E5"/>
          </a:solidFill>
          <a:ln w="12700">
            <a:solidFill>
              <a:srgbClr val="D0E8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45628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2F"/>
                </a:solidFill>
              </a:rPr>
              <a:t>Book A  (returned first, shelved last)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F8C8D"/>
                </a:solidFill>
              </a:rPr>
              <a:t>← push() / pop()  operates on TOP only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Hash Map — Login Authentication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26060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unordered_map&lt;string,string&gt;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credentials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{"admin",    "libadmin"},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{"librarian","lib123"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{"student",  "stud2025"},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Lookup: O(1) average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credentials.find(username);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886968"/>
            <a:ext cx="41148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86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89320" y="886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Password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69480" y="8869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89320" y="1371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libadmin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69480" y="1371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Administrator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856232"/>
            <a:ext cx="4114800" cy="438912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856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1856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lib123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1856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Librarian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40864"/>
            <a:ext cx="411480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408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23408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23408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Student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538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B0CC"/>
                </a:solidFill>
              </a:rPr>
              <a:t>Login Flow: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8412480" cy="26517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5876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① User enters username &amp; password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26517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6052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</a:rPr>
              <a:t>② unordered_map.find(username) — checks existence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62272"/>
            <a:ext cx="8412480" cy="26517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62272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</a:rPr>
              <a:t>③ Compare stored password — validate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764024"/>
            <a:ext cx="8412480" cy="265176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764024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</a:rPr>
              <a:t>④ Set user role on success  |  Reject invalid credentials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50749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07080"/>
                </a:solidFill>
              </a:rPr>
              <a:t>Why unordered_map? Faster than linear search through a list — O(1) average lookup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016614-28D7-04B9-D15F-67FA090D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0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E2F4EF-CCBF-9346-68A6-6120A0FD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3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99"/>
                </a:solidFill>
              </a:rPr>
              <a:t>Borrow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548640"/>
          </a:xfrm>
          <a:prstGeom prst="rect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25880"/>
            <a:ext cx="365760" cy="365760"/>
          </a:xfrm>
          <a:prstGeom prst="ellipse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Select Library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User picks one of 3 libraries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92808"/>
            <a:ext cx="54864" cy="548640"/>
          </a:xfrm>
          <a:prstGeom prst="rect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1984248"/>
            <a:ext cx="365760" cy="365760"/>
          </a:xfrm>
          <a:prstGeom prst="ellipse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Student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67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Check student exists in 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51176"/>
            <a:ext cx="54864" cy="548640"/>
          </a:xfrm>
          <a:prstGeom prst="rect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642616"/>
            <a:ext cx="365760" cy="365760"/>
          </a:xfrm>
          <a:prstGeom prst="ellipse">
            <a:avLst/>
          </a:prstGeom>
          <a:solidFill>
            <a:srgbClr val="1B5E99"/>
          </a:solidFill>
          <a:ln w="12700">
            <a:solidFill>
              <a:srgbClr val="1B5E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Check Borrow Limit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25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Students ≤3 books · Teachers ≤100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20954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09544"/>
            <a:ext cx="54864" cy="5486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300984"/>
            <a:ext cx="365760" cy="36576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Book Available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483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Decrement availableCopies → done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6791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67912"/>
            <a:ext cx="54864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959352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895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Book Unavailable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142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Enqueue student in waiting queue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868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Return Process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2344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13258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Book Returned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1508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Student returns the book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189280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1892808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198424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Update Copies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2167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Increment availableCopies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55117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2551176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264261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03520" y="2578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Push to Stack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28254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returnStack.push(book) for shelving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320954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3209544"/>
            <a:ext cx="54864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64608" y="330098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0352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Check Queue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03520" y="3483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If student waiting → auto-dequeue &amp; lend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386791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3867912"/>
            <a:ext cx="54864" cy="54864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64608" y="3959352"/>
            <a:ext cx="365760" cy="36576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6460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303520" y="3895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Shelf Book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03520" y="4142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shelfReturnedBook() pops stack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434840" y="822960"/>
            <a:ext cx="0" cy="4114800"/>
          </a:xfrm>
          <a:prstGeom prst="line">
            <a:avLst/>
          </a:prstGeom>
          <a:noFill/>
          <a:ln w="12700">
            <a:solidFill>
              <a:srgbClr val="C0CD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Complexity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1828800" cy="502920"/>
          </a:xfrm>
          <a:prstGeom prst="rect">
            <a:avLst/>
          </a:prstGeom>
          <a:solidFill>
            <a:srgbClr val="1B3A50"/>
          </a:solidFill>
          <a:ln w="12700">
            <a:solidFill>
              <a:srgbClr val="1B3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868680"/>
            <a:ext cx="1828800" cy="502920"/>
          </a:xfrm>
          <a:prstGeom prst="rect">
            <a:avLst/>
          </a:prstGeom>
          <a:solidFill>
            <a:srgbClr val="1B3A50"/>
          </a:solidFill>
          <a:ln w="12700">
            <a:solidFill>
              <a:srgbClr val="1B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868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868680"/>
            <a:ext cx="1371600" cy="502920"/>
          </a:xfrm>
          <a:prstGeom prst="rect">
            <a:avLst/>
          </a:prstGeom>
          <a:solidFill>
            <a:srgbClr val="1B3A50"/>
          </a:solidFill>
          <a:ln w="12700">
            <a:solidFill>
              <a:srgbClr val="1B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868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868680"/>
            <a:ext cx="2103120" cy="502920"/>
          </a:xfrm>
          <a:prstGeom prst="rect">
            <a:avLst/>
          </a:prstGeom>
          <a:solidFill>
            <a:srgbClr val="1B3A50"/>
          </a:solidFill>
          <a:ln w="12700">
            <a:solidFill>
              <a:srgbClr val="1B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Where Used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Add Book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137160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8754"/>
                </a:solidFill>
              </a:rPr>
              <a:t>Linked List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0" y="1371600"/>
            <a:ext cx="13716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371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O(n)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210312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addBook()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187452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874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Search Book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77440" y="187452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1874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8754"/>
                </a:solidFill>
              </a:rPr>
              <a:t>Linked List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1874520"/>
            <a:ext cx="13716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8745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O(n)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77840" y="1874520"/>
            <a:ext cx="210312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874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searchBook()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Student Enqueue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77440" y="237744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377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Queue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2377440"/>
            <a:ext cx="13716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23774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754"/>
                </a:solidFill>
              </a:rPr>
              <a:t>O(1)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77840" y="2377440"/>
            <a:ext cx="210312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288036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2880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Student Dequeue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77440" y="288036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2880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</a:rPr>
              <a:t>Queue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6240" y="2880360"/>
            <a:ext cx="13716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28803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754"/>
                </a:solidFill>
              </a:rPr>
              <a:t>O(1)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77840" y="2880360"/>
            <a:ext cx="210312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2880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38328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Push Return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77440" y="338328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</a:rPr>
              <a:t>Stack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206240" y="3383280"/>
            <a:ext cx="13716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754"/>
                </a:solidFill>
              </a:rPr>
              <a:t>O(1)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577840" y="3383280"/>
            <a:ext cx="210312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3383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388620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Shelf Book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377440" y="3886200"/>
            <a:ext cx="18288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</a:rPr>
              <a:t>Stack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206240" y="3886200"/>
            <a:ext cx="137160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97680" y="3886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754"/>
                </a:solidFill>
              </a:rPr>
              <a:t>O(1)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577840" y="3886200"/>
            <a:ext cx="2103120" cy="502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0" y="3886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438912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</a:rPr>
              <a:t>Login Auth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377440" y="4389120"/>
            <a:ext cx="18288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Hash Map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206240" y="4389120"/>
            <a:ext cx="137160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97680" y="43891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754"/>
                </a:solidFill>
              </a:rPr>
              <a:t>O(1) avg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577840" y="4389120"/>
            <a:ext cx="2103120" cy="502920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389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credentials.find()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67665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67665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98448"/>
            <a:ext cx="457200" cy="45720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43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754"/>
                </a:solidFill>
              </a:rPr>
              <a:t>Linked 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</a:rPr>
              <a:t>Books stored as dynamic nodes — flexible insert &amp; search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0" y="1298448"/>
            <a:ext cx="0" cy="45720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93392"/>
            <a:ext cx="8229600" cy="67665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93392"/>
            <a:ext cx="91440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048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Queue (FIFO)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3408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</a:rPr>
              <a:t>Fair waiting list — first student waits, first to be served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2103120"/>
            <a:ext cx="0" cy="45720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98064"/>
            <a:ext cx="8229600" cy="67665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98064"/>
            <a:ext cx="9144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9077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Stack (LIFO)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145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</a:rPr>
              <a:t>Returned books tracked — most recent shelved first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907792"/>
            <a:ext cx="0" cy="45720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02736"/>
            <a:ext cx="8229600" cy="676656"/>
          </a:xfrm>
          <a:prstGeom prst="rect">
            <a:avLst/>
          </a:prstGeom>
          <a:solidFill>
            <a:srgbClr val="132337"/>
          </a:solidFill>
          <a:ln w="12700">
            <a:solidFill>
              <a:srgbClr val="1323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602736"/>
            <a:ext cx="9144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71246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Hash Map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9502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</a:rPr>
              <a:t>O(1) credential lookup — fast &amp; efficient authentication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0" y="3712464"/>
            <a:ext cx="0" cy="45720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70"/>
                </a:solidFill>
              </a:rPr>
              <a:t>Haramaya University  ·  Group 4  ·  Data Structures in C++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Haramaya University Library Management System</dc:title>
  <dc:subject>PptxGenJS Presentation</dc:subject>
  <dc:creator>PptxGenJS</dc:creator>
  <cp:lastModifiedBy>seifeabinet4@gmail.com</cp:lastModifiedBy>
  <cp:revision>6</cp:revision>
  <dcterms:created xsi:type="dcterms:W3CDTF">2026-05-16T13:16:31Z</dcterms:created>
  <dcterms:modified xsi:type="dcterms:W3CDTF">2026-05-17T07:04:52Z</dcterms:modified>
</cp:coreProperties>
</file>